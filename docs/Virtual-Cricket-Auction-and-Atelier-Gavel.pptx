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4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5" r:id="rId17"/>
    <p:sldId id="277" r:id="rId18"/>
    <p:sldId id="276" r:id="rId19"/>
    <p:sldId id="270" r:id="rId20"/>
    <p:sldId id="271" r:id="rId21"/>
    <p:sldId id="272" r:id="rId22"/>
    <p:sldId id="278" r:id="rId23"/>
    <p:sldId id="273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A2837"/>
                </a:solidFill>
              </a:defRPr>
            </a:pPr>
            <a:r>
              <a:t>Virtual Auctions in Practice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From live cricket player drafts to gallery-led art salerooms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Virtual Cricket Auction (Google Play)  •  Atelier Gavel (Web Demo)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2837"/>
                </a:solidFill>
              </a:defRPr>
            </a:pPr>
            <a:r>
              <a:t>What we’ll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/>
            </a:pPr>
            <a:r>
              <a:t>Session roadmap — two products, one narrative about digital auctions</a:t>
            </a:r>
          </a:p>
          <a:p>
            <a:pPr lvl="1">
              <a:spcAft>
                <a:spcPts val="600"/>
              </a:spcAft>
              <a:defRPr sz="1600"/>
            </a:pPr>
            <a:r>
              <a:t>Part 1 — Virtual Cricket Auction (mobile, mass-market, real-time play)</a:t>
            </a:r>
          </a:p>
          <a:p>
            <a:pPr lvl="2">
              <a:spcAft>
                <a:spcPts val="600"/>
              </a:spcAft>
              <a:defRPr sz="1600"/>
            </a:pPr>
            <a:r>
              <a:t>   Product story, features, scale, and learning resources</a:t>
            </a:r>
          </a:p>
          <a:p>
            <a:pPr lvl="1">
              <a:spcAft>
                <a:spcPts val="600"/>
              </a:spcAft>
              <a:defRPr sz="1600"/>
            </a:pPr>
            <a:r>
              <a:t>Part 2 — Atelier Gavel (web platform for galleries)</a:t>
            </a:r>
          </a:p>
          <a:p>
            <a:pPr lvl="2">
              <a:spcAft>
                <a:spcPts val="600"/>
              </a:spcAft>
              <a:defRPr sz="1600"/>
            </a:pPr>
            <a:r>
              <a:t>   Roles, architecture, tech stack, and buyer artist workflows</a:t>
            </a:r>
          </a:p>
          <a:p>
            <a:pPr lvl="1">
              <a:spcAft>
                <a:spcPts val="600"/>
              </a:spcAft>
              <a:defRPr sz="1600"/>
            </a:pPr>
            <a:r>
              <a:t>Synthesis — how each product serves its audience;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7C9CEA-0FB1-AB0F-1507-C63CF3C2E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33" y="628599"/>
            <a:ext cx="11051458" cy="5218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364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2837"/>
                </a:solidFill>
              </a:defRPr>
            </a:pPr>
            <a:r>
              <a:t>Part 1 — Virtual Cricket Auction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/>
            </a:pPr>
            <a:r>
              <a:t>Consumer Android app on Google Play — sports &amp; social gaming focus</a:t>
            </a:r>
          </a:p>
          <a:p>
            <a:pPr lvl="1">
              <a:spcAft>
                <a:spcPts val="600"/>
              </a:spcAft>
              <a:defRPr sz="1600"/>
            </a:pPr>
            <a:r>
              <a:t>Lets groups run live, competitive auctions to build fantasy / custom teams by bidding on cricket players</a:t>
            </a:r>
          </a:p>
          <a:p>
            <a:pPr lvl="1">
              <a:spcAft>
                <a:spcPts val="600"/>
              </a:spcAft>
              <a:defRPr sz="1600"/>
            </a:pPr>
            <a:r>
              <a:t>Developed by Saurabh Khire; strong traction signal with 100,000+ downloads</a:t>
            </a:r>
          </a:p>
          <a:p>
            <a:pPr lvl="1">
              <a:spcAft>
                <a:spcPts val="600"/>
              </a:spcAft>
              <a:defRPr sz="1600"/>
            </a:pPr>
            <a:r>
              <a:t>Monetization: contains ads; broad “Everyone” content rating</a:t>
            </a:r>
          </a:p>
          <a:p>
            <a:pPr lvl="1">
              <a:spcAft>
                <a:spcPts val="600"/>
              </a:spcAft>
              <a:defRPr sz="1600"/>
            </a:pPr>
            <a:r>
              <a:t>Positioning: friend-room multiplayer + optional solo play — low friction entry to auction mechanics</a:t>
            </a:r>
          </a:p>
          <a:p>
            <a:pPr>
              <a:defRPr sz="1200" i="1">
                <a:solidFill>
                  <a:srgbClr val="5A5A5A"/>
                </a:solidFill>
              </a:defRPr>
            </a:pPr>
            <a:r>
              <a:t>Source: Google Play listing — Virtual Cricket Auction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2837"/>
                </a:solidFill>
              </a:defRPr>
            </a:pPr>
            <a:r>
              <a:t>Virtual Cricket Auction — Feature depth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/>
            </a:pPr>
            <a:r>
              <a:t>Live automatic bidding alongside friends — shared room energy, clock-driven tension</a:t>
            </a:r>
          </a:p>
          <a:p>
            <a:pPr>
              <a:spcAft>
                <a:spcPts val="600"/>
              </a:spcAft>
              <a:defRPr sz="1800"/>
            </a:pPr>
            <a:r>
              <a:t>Manual bidding mode with a designated Manager — human auctioneer control</a:t>
            </a:r>
          </a:p>
          <a:p>
            <a:pPr>
              <a:spcAft>
                <a:spcPts val="600"/>
              </a:spcAft>
              <a:defRPr sz="1800"/>
            </a:pPr>
            <a:r>
              <a:t>Curated roster of players — themed content for cricket fans</a:t>
            </a:r>
          </a:p>
          <a:p>
            <a:pPr>
              <a:spcAft>
                <a:spcPts val="600"/>
              </a:spcAft>
              <a:defRPr sz="1800"/>
            </a:pPr>
            <a:r>
              <a:t>Polished, user-friendly UI — onboarding friction kept low for casual groups</a:t>
            </a:r>
          </a:p>
          <a:p>
            <a:pPr>
              <a:spcAft>
                <a:spcPts val="600"/>
              </a:spcAft>
              <a:defRPr sz="1800"/>
            </a:pPr>
            <a:r>
              <a:t>Auto-save sessions — resume interrupted auctions without losing state</a:t>
            </a:r>
          </a:p>
          <a:p>
            <a:pPr>
              <a:spcAft>
                <a:spcPts val="600"/>
              </a:spcAft>
              <a:defRPr sz="1800"/>
            </a:pPr>
            <a:r>
              <a:t>Configurable auction rules — adapt timing, flow, or house style</a:t>
            </a:r>
          </a:p>
          <a:p>
            <a:pPr>
              <a:spcAft>
                <a:spcPts val="600"/>
              </a:spcAft>
              <a:defRPr sz="1800"/>
            </a:pPr>
            <a:r>
              <a:t>Single-player auctions with bots — practice or solo entertainment</a:t>
            </a:r>
          </a:p>
          <a:p>
            <a:pPr>
              <a:spcAft>
                <a:spcPts val="600"/>
              </a:spcAft>
              <a:defRPr sz="1800"/>
            </a:pPr>
            <a:r>
              <a:t>Community posts — advertise upcoming rooms so members plan ahead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2837"/>
                </a:solidFill>
              </a:defRPr>
            </a:pPr>
            <a:r>
              <a:t>Virtual Cricket Auction — Tutorials &amp;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/>
            </a:pPr>
            <a:r>
              <a:t>Structured video walkthroughs are published for every major workflow</a:t>
            </a:r>
          </a:p>
          <a:p>
            <a:pPr lvl="1">
              <a:spcAft>
                <a:spcPts val="600"/>
              </a:spcAft>
              <a:defRPr sz="1600"/>
            </a:pPr>
            <a:r>
              <a:t>Part 1 — Login &amp; Register</a:t>
            </a:r>
          </a:p>
          <a:p>
            <a:pPr lvl="1">
              <a:spcAft>
                <a:spcPts val="600"/>
              </a:spcAft>
              <a:defRPr sz="1600"/>
            </a:pPr>
            <a:r>
              <a:t>Part 2 — Rooms (creating / joining spaces)</a:t>
            </a:r>
          </a:p>
          <a:p>
            <a:pPr lvl="1">
              <a:spcAft>
                <a:spcPts val="600"/>
              </a:spcAft>
              <a:defRPr sz="1600"/>
            </a:pPr>
            <a:r>
              <a:t>Part 3 — Automatic auction experience</a:t>
            </a:r>
          </a:p>
          <a:p>
            <a:pPr lvl="1">
              <a:spcAft>
                <a:spcPts val="600"/>
              </a:spcAft>
              <a:defRPr sz="1600"/>
            </a:pPr>
            <a:r>
              <a:t>Part 4 — Manual auction with a manager</a:t>
            </a:r>
          </a:p>
          <a:p>
            <a:pPr>
              <a:spcAft>
                <a:spcPts val="600"/>
              </a:spcAft>
              <a:defRPr sz="1800"/>
            </a:pPr>
            <a:r>
              <a:t>Store link for install and updates:</a:t>
            </a:r>
          </a:p>
          <a:p>
            <a:pPr lvl="1">
              <a:spcAft>
                <a:spcPts val="600"/>
              </a:spcAft>
              <a:defRPr sz="1600"/>
            </a:pPr>
            <a:r>
              <a:t>https://play.google.com/store/apps/details?id=com.auction.virtualauctionclient</a:t>
            </a:r>
          </a:p>
          <a:p>
            <a:pPr>
              <a:defRPr sz="1200" i="1">
                <a:solidFill>
                  <a:srgbClr val="5A5A5A"/>
                </a:solidFill>
              </a:defRPr>
            </a:pPr>
            <a:r>
              <a:t>Reduces support load; excellent model for any auction product’s GTM.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2837"/>
                </a:solidFill>
              </a:defRPr>
            </a:pPr>
            <a:r>
              <a:t>Why this app matters — product lessons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/>
            </a:pPr>
            <a:r>
              <a:t>Proves auction UX at scale: latency, fairness, and clarity under social pressure</a:t>
            </a:r>
          </a:p>
          <a:p>
            <a:pPr>
              <a:spcAft>
                <a:spcPts val="600"/>
              </a:spcAft>
              <a:defRPr sz="1800"/>
            </a:pPr>
            <a:r>
              <a:t>Dual modes (auto vs manual) serve both casual parties and structured league nights</a:t>
            </a:r>
          </a:p>
          <a:p>
            <a:pPr>
              <a:spcAft>
                <a:spcPts val="600"/>
              </a:spcAft>
              <a:defRPr sz="1800"/>
            </a:pPr>
            <a:r>
              <a:t>Persistence + bots widen the funnel — install → solo try → invite friends</a:t>
            </a:r>
          </a:p>
          <a:p>
            <a:pPr>
              <a:spcAft>
                <a:spcPts val="600"/>
              </a:spcAft>
              <a:defRPr sz="1800"/>
            </a:pPr>
            <a:r>
              <a:t>Sports context makes abstract “bidding” instantly relatable worldwide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7724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400">
                <a:solidFill>
                  <a:srgbClr val="B8956B"/>
                </a:solidFill>
              </a:defRPr>
            </a:pPr>
            <a:r>
              <a:t>Part 2</a:t>
            </a:r>
          </a:p>
          <a:p>
            <a:pPr>
              <a:defRPr sz="4400" b="1">
                <a:solidFill>
                  <a:srgbClr val="1A2837"/>
                </a:solidFill>
              </a:defRPr>
            </a:pPr>
            <a:r>
              <a:t>Atelier Gavel</a:t>
            </a:r>
          </a:p>
          <a:p>
            <a:pPr>
              <a:defRPr sz="2000">
                <a:solidFill>
                  <a:srgbClr val="505860"/>
                </a:solidFill>
              </a:defRPr>
            </a:pPr>
            <a:r>
              <a:t>Web platform demo — art galleries &amp; timed salerooms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2837"/>
                </a:solidFill>
              </a:defRPr>
            </a:pPr>
            <a:r>
              <a:t>Part 2 — Atelier Gavel (Art Auction Demo)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/>
            </a:pPr>
            <a:r>
              <a:t>Full-stack web application for a boutique gallery / private sales context</a:t>
            </a:r>
          </a:p>
          <a:p>
            <a:pPr lvl="1">
              <a:spcAft>
                <a:spcPts val="600"/>
              </a:spcAft>
              <a:defRPr sz="1600"/>
            </a:pPr>
            <a:r>
              <a:t>Objective: credible preview of how a gallery could run timed, remote auctions with real calendar boundaries</a:t>
            </a:r>
          </a:p>
          <a:p>
            <a:pPr lvl="1">
              <a:spcAft>
                <a:spcPts val="600"/>
              </a:spcAft>
              <a:defRPr sz="1600"/>
            </a:pPr>
            <a:r>
              <a:t>Not a consumer game — a B2B-leaning operations tool with buyer-facing room</a:t>
            </a:r>
          </a:p>
          <a:p>
            <a:pPr lvl="1">
              <a:spcAft>
                <a:spcPts val="600"/>
              </a:spcAft>
              <a:defRPr sz="1600"/>
            </a:pPr>
            <a:r>
              <a:t>Brand layer: “Atelier Gavel” — editorial, calm UX (serif headings, restrained palette)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2837"/>
                </a:solidFill>
              </a:defRPr>
            </a:pPr>
            <a:r>
              <a:t>Atelier Gavel —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/>
            </a:pPr>
            <a:r>
              <a:t>Frontend: React 18 + Vite + React Router — fast dev, production-grade bundle</a:t>
            </a:r>
          </a:p>
          <a:p>
            <a:pPr>
              <a:spcAft>
                <a:spcPts val="600"/>
              </a:spcAft>
              <a:defRPr sz="1800"/>
            </a:pPr>
            <a:r>
              <a:t>Backend: Node.js + Express (REST) — predictable integration for future mobile or ERP clients</a:t>
            </a:r>
          </a:p>
          <a:p>
            <a:pPr>
              <a:spcAft>
                <a:spcPts val="600"/>
              </a:spcAft>
              <a:defRPr sz="1800"/>
            </a:pPr>
            <a:r>
              <a:t>Data: SQLite (local file) — zero-ops for pilot demos; path to Postgres later</a:t>
            </a:r>
          </a:p>
          <a:p>
            <a:pPr>
              <a:spcAft>
                <a:spcPts val="600"/>
              </a:spcAft>
              <a:defRPr sz="1800"/>
            </a:pPr>
            <a:r>
              <a:t>Security baseline: JWT sessions, bcrypt passwords, role-gated routes</a:t>
            </a:r>
          </a:p>
          <a:p>
            <a:pPr>
              <a:spcAft>
                <a:spcPts val="600"/>
              </a:spcAft>
              <a:defRPr sz="1800"/>
            </a:pPr>
            <a:r>
              <a:t>Assets: Multer file uploads — artwork photography stored server-side</a:t>
            </a:r>
          </a:p>
          <a:p>
            <a:pPr>
              <a:spcAft>
                <a:spcPts val="600"/>
              </a:spcAft>
              <a:defRPr sz="1800"/>
            </a:pPr>
            <a:r>
              <a:t>Ops: single-command dev orchestration; documented DB reset for clean demos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2837"/>
                </a:solidFill>
              </a:defRPr>
            </a:pPr>
            <a:r>
              <a:t>Architecture — logical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/>
            </a:pPr>
            <a:r>
              <a:t>Browser SPA talks to REST API (Vite proxy in development)</a:t>
            </a:r>
          </a:p>
          <a:p>
            <a:pPr lvl="1">
              <a:spcAft>
                <a:spcPts val="600"/>
              </a:spcAft>
              <a:defRPr sz="1600"/>
            </a:pPr>
            <a:r>
              <a:t>Every API pass refreshes auction state from wall-clock time</a:t>
            </a:r>
          </a:p>
          <a:p>
            <a:pPr lvl="1">
              <a:spcAft>
                <a:spcPts val="600"/>
              </a:spcAft>
              <a:defRPr sz="1600"/>
            </a:pPr>
            <a:r>
              <a:t>Lifecycle: scheduled → live → ended → finalized (writes sales ledger)</a:t>
            </a:r>
          </a:p>
          <a:p>
            <a:pPr lvl="1">
              <a:spcAft>
                <a:spcPts val="600"/>
              </a:spcAft>
              <a:defRPr sz="1600"/>
            </a:pPr>
            <a:r>
              <a:t>Finalization is transactional: highest bid per lot, debit buyer, credit artist (virtual)</a:t>
            </a:r>
          </a:p>
          <a:p>
            <a:pPr lvl="1">
              <a:spcAft>
                <a:spcPts val="600"/>
              </a:spcAft>
              <a:defRPr sz="1600"/>
            </a:pPr>
            <a:r>
              <a:t>Separates presentation, orchestration, and persistence — easy to extend (e.g. Stripe webhooks)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2837"/>
                </a:solidFill>
              </a:defRPr>
            </a:pPr>
            <a:r>
              <a:t>Roles &amp;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/>
            </a:pPr>
            <a:r>
              <a:t>Artist — portfolio up to 10 pieces; image + story; inventory states: available / in auction / sold</a:t>
            </a:r>
          </a:p>
          <a:p>
            <a:pPr>
              <a:spcAft>
                <a:spcPts val="600"/>
              </a:spcAft>
              <a:defRPr sz="1800"/>
            </a:pPr>
            <a:r>
              <a:t>Admin (Curator) — ingest consignment, compose auction sessions, set opening bids, wall times</a:t>
            </a:r>
          </a:p>
          <a:p>
            <a:pPr>
              <a:spcAft>
                <a:spcPts val="600"/>
              </a:spcAft>
              <a:defRPr sz="1800"/>
            </a:pPr>
            <a:r>
              <a:t>Buyer — virtual balance at signup; pre-register with session budget cap; bid only while live</a:t>
            </a:r>
          </a:p>
          <a:p>
            <a:pPr>
              <a:spcAft>
                <a:spcPts val="600"/>
              </a:spcAft>
              <a:defRPr sz="1800"/>
            </a:pPr>
            <a:r>
              <a:t>Enforcement: bid increments, budget cap vs outstanding winning bids, optional legacy per-lot ceiling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2837"/>
                </a:solidFill>
              </a:defRPr>
            </a:pPr>
            <a:r>
              <a:t>Buyer journey (highlight reel)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/>
            </a:pPr>
            <a:r>
              <a:t>Discover auctions from Saleroom, auction list, or deep link to a room</a:t>
            </a:r>
          </a:p>
          <a:p>
            <a:pPr>
              <a:spcAft>
                <a:spcPts val="600"/>
              </a:spcAft>
              <a:defRPr sz="1800"/>
            </a:pPr>
            <a:r>
              <a:t>Pre-register before start_time — explicitly budget-bound commitment</a:t>
            </a:r>
          </a:p>
          <a:p>
            <a:pPr>
              <a:spcAft>
                <a:spcPts val="600"/>
              </a:spcAft>
              <a:defRPr sz="1800"/>
            </a:pPr>
            <a:r>
              <a:t>Live room polls prices; raise, quick-bid, or custom amount with validation</a:t>
            </a:r>
          </a:p>
          <a:p>
            <a:pPr>
              <a:spcAft>
                <a:spcPts val="600"/>
              </a:spcAft>
              <a:defRPr sz="1800"/>
            </a:pPr>
            <a:r>
              <a:t>Settlement runs automatically after end_time — purchases grouped by auction in “My purchases”</a:t>
            </a:r>
          </a:p>
          <a:p>
            <a:pPr>
              <a:spcAft>
                <a:spcPts val="600"/>
              </a:spcAft>
              <a:defRPr sz="1800"/>
            </a:pPr>
            <a:r>
              <a:t>Placeholder path for future card billing — Stripe checkbox captured at registration today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2837"/>
                </a:solidFill>
              </a:defRPr>
            </a:pPr>
            <a:r>
              <a:t>Side-by-side — two products, two intents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/>
            </a:pPr>
            <a:r>
              <a:t>Audience: Cricket app = broad consumer / sports clubs; Art demo = gallery staff + collectors</a:t>
            </a:r>
          </a:p>
          <a:p>
            <a:pPr>
              <a:spcAft>
                <a:spcPts val="600"/>
              </a:spcAft>
              <a:defRPr sz="1800"/>
            </a:pPr>
            <a:r>
              <a:t>Surface: Native Android vs responsive web (deployable as PWA or packaged later)</a:t>
            </a:r>
          </a:p>
          <a:p>
            <a:pPr>
              <a:spcAft>
                <a:spcPts val="600"/>
              </a:spcAft>
              <a:defRPr sz="1800"/>
            </a:pPr>
            <a:r>
              <a:t>Content: Player cards &amp; fantasy framing vs consigned artworks &amp; provenance narrative</a:t>
            </a:r>
          </a:p>
          <a:p>
            <a:pPr>
              <a:spcAft>
                <a:spcPts val="600"/>
              </a:spcAft>
              <a:defRPr sz="1800"/>
            </a:pPr>
            <a:r>
              <a:t>Trust: Play Store social proof + tutorials vs JWT-secured B2C-lite saleroom controls</a:t>
            </a:r>
          </a:p>
          <a:p>
            <a:pPr>
              <a:spcAft>
                <a:spcPts val="600"/>
              </a:spcAft>
              <a:defRPr sz="1800"/>
            </a:pPr>
            <a:r>
              <a:t>Shared DNA: time-boxed competition, clear hammer logic, explainable bid rules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2837"/>
                </a:solidFill>
              </a:defRPr>
            </a:pPr>
            <a:r>
              <a:t>Virtual Cricket Auction — Reach &amp; trust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/>
            </a:pPr>
            <a:r>
              <a:t>Category placement: Sports — aligns with seasonality, leagues, and fan events</a:t>
            </a:r>
          </a:p>
          <a:p>
            <a:pPr>
              <a:spcAft>
                <a:spcPts val="600"/>
              </a:spcAft>
              <a:defRPr sz="1800"/>
            </a:pPr>
            <a:r>
              <a:t>Store visibility: installs and ratings build organic discovery for new hosts</a:t>
            </a:r>
          </a:p>
          <a:p>
            <a:pPr lvl="1">
              <a:spcAft>
                <a:spcPts val="600"/>
              </a:spcAft>
              <a:defRPr sz="1600"/>
            </a:pPr>
            <a:r>
              <a:t>Developer-declared data practices (per Play Console): plan communications accordingly</a:t>
            </a:r>
          </a:p>
          <a:p>
            <a:pPr>
              <a:spcAft>
                <a:spcPts val="600"/>
              </a:spcAft>
              <a:defRPr sz="1800"/>
            </a:pPr>
            <a:r>
              <a:t>Support channel listed on store — reduces friction for schools, clubs, and creators</a:t>
            </a:r>
          </a:p>
          <a:p>
            <a:pPr>
              <a:spcAft>
                <a:spcPts val="600"/>
              </a:spcAft>
              <a:defRPr sz="1800"/>
            </a:pPr>
            <a:r>
              <a:t>Ideal references when pitching “auction as a format” to non-technical stakeholders</a:t>
            </a:r>
          </a:p>
          <a:p>
            <a:pPr>
              <a:defRPr sz="1200" i="1">
                <a:solidFill>
                  <a:srgbClr val="5A5A5A"/>
                </a:solidFill>
              </a:defRPr>
            </a:pPr>
            <a:r>
              <a:t>Listing: play.google.com/store/apps/details?id=com.auction.virtualauctionclient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6289833-FDAB-5F6D-0898-C704F1ACA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1387"/>
            <a:ext cx="12192000" cy="533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105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3D9A30-73E7-2ADC-8DAC-1B867B840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2415"/>
            <a:ext cx="12192000" cy="5493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6487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DB2C1C-A156-98CB-BE18-E2442A38A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6779"/>
            <a:ext cx="12192000" cy="5604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3690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2837"/>
                </a:solidFill>
              </a:defRPr>
            </a:pPr>
            <a:r>
              <a:t>Atelier Gavel — Persistent data (why auditors care)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/>
            </a:pPr>
            <a:r>
              <a:t>users — identity, role, virtual_balance, optional Stripe-interest flags</a:t>
            </a:r>
          </a:p>
          <a:p>
            <a:pPr>
              <a:spcAft>
                <a:spcPts val="600"/>
              </a:spcAft>
              <a:defRPr sz="1800"/>
            </a:pPr>
            <a:r>
              <a:t>arts — consigned objects with status / availability machine</a:t>
            </a:r>
          </a:p>
          <a:p>
            <a:pPr>
              <a:spcAft>
                <a:spcPts val="600"/>
              </a:spcAft>
              <a:defRPr sz="1800"/>
            </a:pPr>
            <a:r>
              <a:t>auctions + auction_arts — session contract: times, lots, opening bids, cap rules</a:t>
            </a:r>
          </a:p>
          <a:p>
            <a:pPr>
              <a:spcAft>
                <a:spcPts val="600"/>
              </a:spcAft>
              <a:defRPr sz="1800"/>
            </a:pPr>
            <a:r>
              <a:t>auction_registrations — buyer commitment envelope before gavel</a:t>
            </a:r>
          </a:p>
          <a:p>
            <a:pPr>
              <a:spcAft>
                <a:spcPts val="600"/>
              </a:spcAft>
              <a:defRPr sz="1800"/>
            </a:pPr>
            <a:r>
              <a:t>bids — append-only evidence trail for dispute review</a:t>
            </a:r>
          </a:p>
          <a:p>
            <a:pPr>
              <a:spcAft>
                <a:spcPts val="600"/>
              </a:spcAft>
              <a:defRPr sz="1800"/>
            </a:pPr>
            <a:r>
              <a:t>art_sales — immutable settlement once hammer is formalized in software</a:t>
            </a:r>
          </a:p>
          <a:p>
            <a:pPr>
              <a:defRPr sz="1200" i="1">
                <a:solidFill>
                  <a:srgbClr val="5A5A5A"/>
                </a:solidFill>
              </a:defRPr>
            </a:pPr>
            <a:r>
              <a:t>SQLite today → portable SQL for gallery IT review tomorrow.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2837"/>
                </a:solidFill>
              </a:defRPr>
            </a:pPr>
            <a:r>
              <a:t>Roadmap ideas (both lanes)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/>
            </a:pPr>
            <a:r>
              <a:t>Cricket: deeper analytics for hosts, premium ad-free tier, cross-promotion APIs</a:t>
            </a:r>
          </a:p>
          <a:p>
            <a:pPr>
              <a:spcAft>
                <a:spcPts val="600"/>
              </a:spcAft>
              <a:defRPr sz="1800"/>
            </a:pPr>
            <a:r>
              <a:t>Gallery demo: PSP integration, KYC for hammer price, condition reports PDF</a:t>
            </a:r>
          </a:p>
          <a:p>
            <a:pPr>
              <a:spcAft>
                <a:spcPts val="600"/>
              </a:spcAft>
              <a:defRPr sz="1800"/>
            </a:pPr>
            <a:r>
              <a:t>Shared: fairness monitors, anti-sniping policy toggles, replay exports for transparency</a:t>
            </a:r>
          </a:p>
          <a:p>
            <a:pPr>
              <a:spcAft>
                <a:spcPts val="600"/>
              </a:spcAft>
              <a:defRPr sz="1800"/>
            </a:pPr>
            <a:r>
              <a:t>Shared: optional WebSocket layers on top of proven REST semantics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2837"/>
                </a:solidFill>
              </a:defRPr>
            </a:pPr>
            <a:r>
              <a:t>Strategic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/>
            </a:pPr>
            <a:r>
              <a:t>Virtual Cricket Auction shows how auction mechanics scale socially on mobile with excellent onboarding</a:t>
            </a:r>
          </a:p>
          <a:p>
            <a:pPr>
              <a:spcAft>
                <a:spcPts val="600"/>
              </a:spcAft>
              <a:defRPr sz="1800"/>
            </a:pPr>
            <a:r>
              <a:t>Atelier Gavel shows how the same mechanical clarity maps to high-trust cultural commerce on the web</a:t>
            </a:r>
          </a:p>
          <a:p>
            <a:pPr>
              <a:spcAft>
                <a:spcPts val="600"/>
              </a:spcAft>
              <a:defRPr sz="1800"/>
            </a:pPr>
            <a:r>
              <a:t>Together they illustrate a spectrum: viral leisure rooms → curated institutional sales</a:t>
            </a:r>
          </a:p>
          <a:p>
            <a:pPr>
              <a:spcAft>
                <a:spcPts val="600"/>
              </a:spcAft>
              <a:defRPr sz="1800"/>
            </a:pPr>
            <a:r>
              <a:t>Next investments for the web demo: WebSockets, payment capture, multi-tenant galleries, mobile wrapper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F872C-BE28-4B9C-A04C-04233ACC1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0096" y="537984"/>
            <a:ext cx="9856839" cy="5546058"/>
          </a:xfrm>
        </p:spPr>
        <p:txBody>
          <a:bodyPr>
            <a:normAutofit/>
          </a:bodyPr>
          <a:lstStyle/>
          <a:p>
            <a:r>
              <a:rPr lang="en-US" b="1" dirty="0"/>
              <a:t>If you are looking for either of these do reach out to me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Collaborate on this or any of projects</a:t>
            </a:r>
            <a:br>
              <a:rPr lang="en-US" b="1" dirty="0"/>
            </a:br>
            <a:r>
              <a:rPr lang="en-US" b="1" dirty="0"/>
              <a:t>Co founder</a:t>
            </a:r>
            <a:br>
              <a:rPr lang="en-US" b="1" dirty="0"/>
            </a:br>
            <a:r>
              <a:rPr lang="en-US" b="1" dirty="0"/>
              <a:t>Tech engineer</a:t>
            </a:r>
          </a:p>
        </p:txBody>
      </p:sp>
    </p:spTree>
    <p:extLst>
      <p:ext uri="{BB962C8B-B14F-4D97-AF65-F5344CB8AC3E}">
        <p14:creationId xmlns:p14="http://schemas.microsoft.com/office/powerpoint/2010/main" val="4442910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6B5D22C-3733-0693-6924-2A7DF8624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634" y="239220"/>
            <a:ext cx="6239379" cy="6207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1225</Words>
  <Application>Microsoft Office PowerPoint</Application>
  <PresentationFormat>Widescreen</PresentationFormat>
  <Paragraphs>105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Virtual Auctions in Practice</vt:lpstr>
      <vt:lpstr>What we’ll cover</vt:lpstr>
      <vt:lpstr>PowerPoint Presentation</vt:lpstr>
      <vt:lpstr>Part 1 — Virtual Cricket Auction</vt:lpstr>
      <vt:lpstr>Virtual Cricket Auction — Feature depth</vt:lpstr>
      <vt:lpstr>Virtual Cricket Auction — Tutorials &amp; discovery</vt:lpstr>
      <vt:lpstr>Why this app matters — product lessons</vt:lpstr>
      <vt:lpstr>PowerPoint Presentation</vt:lpstr>
      <vt:lpstr>Part 2 — Atelier Gavel (Art Auction Demo)</vt:lpstr>
      <vt:lpstr>Atelier Gavel — Technology stack</vt:lpstr>
      <vt:lpstr>Architecture — logical view</vt:lpstr>
      <vt:lpstr>Roles &amp; responsibilities</vt:lpstr>
      <vt:lpstr>Buyer journey (highlight reel)</vt:lpstr>
      <vt:lpstr>Side-by-side — two products, two intents</vt:lpstr>
      <vt:lpstr>Virtual Cricket Auction — Reach &amp; trust signals</vt:lpstr>
      <vt:lpstr>PowerPoint Presentation</vt:lpstr>
      <vt:lpstr>PowerPoint Presentation</vt:lpstr>
      <vt:lpstr>PowerPoint Presentation</vt:lpstr>
      <vt:lpstr>Atelier Gavel — Persistent data (why auditors care)</vt:lpstr>
      <vt:lpstr>Roadmap ideas (both lanes)</vt:lpstr>
      <vt:lpstr>Strategic takeaway</vt:lpstr>
      <vt:lpstr>If you are looking for either of these do reach out to me  Collaborate on this or any of projects Co founder Tech engineer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Saurabh Khire</cp:lastModifiedBy>
  <cp:revision>6</cp:revision>
  <dcterms:created xsi:type="dcterms:W3CDTF">2013-01-27T09:14:16Z</dcterms:created>
  <dcterms:modified xsi:type="dcterms:W3CDTF">2026-03-25T02:14:50Z</dcterms:modified>
  <cp:category/>
</cp:coreProperties>
</file>